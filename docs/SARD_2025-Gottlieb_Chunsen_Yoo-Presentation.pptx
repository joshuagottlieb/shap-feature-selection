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Average"/>
      <p:regular r:id="rId13"/>
    </p:embeddedFont>
    <p:embeddedFont>
      <p:font typeface="Oswald"/>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Average-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bold.fntdata"/><Relationship Id="rId14"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9e4a29b0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9e4a29b0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9e4a29b0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9e4a29b0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9e4a29b0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9e4a29b0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9e4a29b0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9e4a29b0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9e4a29b0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9e4a29b0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9e4a29b0f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9e4a29b0f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3200"/>
              <a:t>Using SHAP Post-Model Explainability</a:t>
            </a:r>
            <a:endParaRPr sz="3200"/>
          </a:p>
          <a:p>
            <a:pPr indent="0" lvl="0" marL="0" rtl="0" algn="ctr">
              <a:lnSpc>
                <a:spcPct val="115000"/>
              </a:lnSpc>
              <a:spcBef>
                <a:spcPts val="0"/>
              </a:spcBef>
              <a:spcAft>
                <a:spcPts val="0"/>
              </a:spcAft>
              <a:buNone/>
            </a:pPr>
            <a:r>
              <a:rPr lang="en" sz="3200"/>
              <a:t>as a Model-Agnostic Feature Selection Technique</a:t>
            </a:r>
            <a:endParaRPr sz="3200"/>
          </a:p>
        </p:txBody>
      </p:sp>
      <p:sp>
        <p:nvSpPr>
          <p:cNvPr id="60" name="Google Shape;60;p13"/>
          <p:cNvSpPr txBox="1"/>
          <p:nvPr>
            <p:ph idx="1" type="subTitle"/>
          </p:nvPr>
        </p:nvSpPr>
        <p:spPr>
          <a:xfrm>
            <a:off x="671250" y="3174875"/>
            <a:ext cx="7801500" cy="18207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en"/>
              <a:t>Joshua Gottlieb, Martin Sichali Chunsen, and Alexander Yoo</a:t>
            </a:r>
            <a:endParaRPr/>
          </a:p>
          <a:p>
            <a:pPr indent="0" lvl="0" marL="0" rtl="0" algn="ctr">
              <a:lnSpc>
                <a:spcPct val="115000"/>
              </a:lnSpc>
              <a:spcBef>
                <a:spcPts val="1000"/>
              </a:spcBef>
              <a:spcAft>
                <a:spcPts val="0"/>
              </a:spcAft>
              <a:buNone/>
            </a:pPr>
            <a:r>
              <a:rPr lang="en"/>
              <a:t>Advised by Dr. Krishna Bathula</a:t>
            </a:r>
            <a:endParaRPr/>
          </a:p>
          <a:p>
            <a:pPr indent="0" lvl="0" marL="0" rtl="0" algn="ctr">
              <a:lnSpc>
                <a:spcPct val="115000"/>
              </a:lnSpc>
              <a:spcBef>
                <a:spcPts val="1000"/>
              </a:spcBef>
              <a:spcAft>
                <a:spcPts val="1000"/>
              </a:spcAft>
              <a:buNone/>
            </a:pPr>
            <a:r>
              <a:rPr lang="en"/>
              <a:t>Seidenberg Annual Research Day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Selection and SHAP Overview</a:t>
            </a:r>
            <a:endParaRPr/>
          </a:p>
        </p:txBody>
      </p:sp>
      <p:sp>
        <p:nvSpPr>
          <p:cNvPr id="66" name="Google Shape;66;p14"/>
          <p:cNvSpPr txBox="1"/>
          <p:nvPr>
            <p:ph idx="1" type="body"/>
          </p:nvPr>
        </p:nvSpPr>
        <p:spPr>
          <a:xfrm>
            <a:off x="311700" y="1017725"/>
            <a:ext cx="8520600" cy="40149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
              <a:t>Feature selection techniques in data science help reduce dimensionality of datasets, remove sparsity, and eliminate noisy patterns</a:t>
            </a:r>
            <a:r>
              <a:rPr lang="en"/>
              <a:t>, thereby improving generalization</a:t>
            </a:r>
            <a:r>
              <a:rPr lang="en"/>
              <a:t>.</a:t>
            </a:r>
            <a:endParaRPr/>
          </a:p>
          <a:p>
            <a:pPr indent="0" lvl="0" marL="0" rtl="0" algn="l">
              <a:lnSpc>
                <a:spcPct val="115000"/>
              </a:lnSpc>
              <a:spcBef>
                <a:spcPts val="1000"/>
              </a:spcBef>
              <a:spcAft>
                <a:spcPts val="0"/>
              </a:spcAft>
              <a:buNone/>
            </a:pPr>
            <a:r>
              <a:rPr lang="en"/>
              <a:t>SHAP is a machine learning explainability technique that is used to evaluate predictions for black-box models. SHAP is an additive model, so each feature is given </a:t>
            </a:r>
            <a:r>
              <a:rPr lang="en"/>
              <a:t>a SHAP value, similar to the coefficients for a linear model. These coefficients </a:t>
            </a:r>
            <a:r>
              <a:rPr lang="en"/>
              <a:t>can be used to produce feature rankings, allowing SHAP to be used for feature selection.</a:t>
            </a:r>
            <a:endParaRPr/>
          </a:p>
          <a:p>
            <a:pPr indent="0" lvl="0" marL="0" rtl="0" algn="l">
              <a:lnSpc>
                <a:spcPct val="115000"/>
              </a:lnSpc>
              <a:spcBef>
                <a:spcPts val="1000"/>
              </a:spcBef>
              <a:spcAft>
                <a:spcPts val="1000"/>
              </a:spcAft>
              <a:buNone/>
            </a:pPr>
            <a:r>
              <a:rPr lang="en"/>
              <a:t>Previous work using SHAP as a </a:t>
            </a:r>
            <a:r>
              <a:rPr lang="en"/>
              <a:t>feature</a:t>
            </a:r>
            <a:r>
              <a:rPr lang="en"/>
              <a:t> selection technique failed to provide good methods for choosing feature subsets without expensive iterative processes. We aimed to solve this problem with two novel selection algorithms, MAX and SUM, which are designed for simplicity and grounded in </a:t>
            </a:r>
            <a:r>
              <a:rPr lang="en"/>
              <a:t>intuitive</a:t>
            </a:r>
            <a:r>
              <a:rPr lang="en"/>
              <a:t> feature selection goals. We tested our algorithms across 5 model types and 10 datasets, to ensure robustness of the technique.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MAX and SUM Algorithms for Feature Selection</a:t>
            </a:r>
            <a:endParaRPr/>
          </a:p>
        </p:txBody>
      </p:sp>
      <p:sp>
        <p:nvSpPr>
          <p:cNvPr id="72" name="Google Shape;72;p15"/>
          <p:cNvSpPr txBox="1"/>
          <p:nvPr>
            <p:ph idx="1" type="body"/>
          </p:nvPr>
        </p:nvSpPr>
        <p:spPr>
          <a:xfrm>
            <a:off x="145000" y="1017725"/>
            <a:ext cx="4427100" cy="39114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
              <a:t>The MAX strategy frames features selection in the context of </a:t>
            </a:r>
            <a:r>
              <a:rPr i="1" lang="en"/>
              <a:t>relative feature importance </a:t>
            </a:r>
            <a:r>
              <a:rPr lang="en"/>
              <a:t>by only keeping features that are as strong as a proportion of the strongest feature.</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1200"/>
              </a:spcAft>
              <a:buNone/>
            </a:pPr>
            <a:r>
              <a:rPr lang="en"/>
              <a:t>The SUM strategy frames feature selection in the context of </a:t>
            </a:r>
            <a:r>
              <a:rPr i="1" lang="en"/>
              <a:t>total data explanation</a:t>
            </a:r>
            <a:r>
              <a:rPr lang="en"/>
              <a:t> by only keeping features with summed importance equal to a proportion of the total summed importances.</a:t>
            </a:r>
            <a:endParaRPr/>
          </a:p>
        </p:txBody>
      </p:sp>
      <p:pic>
        <p:nvPicPr>
          <p:cNvPr id="73" name="Google Shape;73;p15" title="maxshap.png"/>
          <p:cNvPicPr preferRelativeResize="0"/>
          <p:nvPr/>
        </p:nvPicPr>
        <p:blipFill>
          <a:blip r:embed="rId3">
            <a:alphaModFix/>
          </a:blip>
          <a:stretch>
            <a:fillRect/>
          </a:stretch>
        </p:blipFill>
        <p:spPr>
          <a:xfrm>
            <a:off x="4672575" y="1253715"/>
            <a:ext cx="4159727" cy="1633500"/>
          </a:xfrm>
          <a:prstGeom prst="rect">
            <a:avLst/>
          </a:prstGeom>
          <a:noFill/>
          <a:ln>
            <a:noFill/>
          </a:ln>
        </p:spPr>
      </p:pic>
      <p:pic>
        <p:nvPicPr>
          <p:cNvPr id="74" name="Google Shape;74;p15" title="sumshap.png"/>
          <p:cNvPicPr preferRelativeResize="0"/>
          <p:nvPr/>
        </p:nvPicPr>
        <p:blipFill>
          <a:blip r:embed="rId4">
            <a:alphaModFix/>
          </a:blip>
          <a:stretch>
            <a:fillRect/>
          </a:stretch>
        </p:blipFill>
        <p:spPr>
          <a:xfrm>
            <a:off x="4672175" y="3068228"/>
            <a:ext cx="4160520" cy="164571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Frameworks for Selecting the Best Feature Subsets from Rankings</a:t>
            </a:r>
            <a:endParaRPr/>
          </a:p>
        </p:txBody>
      </p:sp>
      <p:pic>
        <p:nvPicPr>
          <p:cNvPr id="80" name="Google Shape;80;p16" title="annotated_performance_metrics.png"/>
          <p:cNvPicPr preferRelativeResize="0"/>
          <p:nvPr/>
        </p:nvPicPr>
        <p:blipFill>
          <a:blip r:embed="rId3">
            <a:alphaModFix/>
          </a:blip>
          <a:stretch>
            <a:fillRect/>
          </a:stretch>
        </p:blipFill>
        <p:spPr>
          <a:xfrm>
            <a:off x="4084650" y="1096225"/>
            <a:ext cx="4900040" cy="3820978"/>
          </a:xfrm>
          <a:prstGeom prst="rect">
            <a:avLst/>
          </a:prstGeom>
          <a:noFill/>
          <a:ln>
            <a:noFill/>
          </a:ln>
        </p:spPr>
      </p:pic>
      <p:sp>
        <p:nvSpPr>
          <p:cNvPr id="81" name="Google Shape;81;p16"/>
          <p:cNvSpPr txBox="1"/>
          <p:nvPr/>
        </p:nvSpPr>
        <p:spPr>
          <a:xfrm>
            <a:off x="110875" y="1096225"/>
            <a:ext cx="3872400" cy="3821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accent3"/>
                </a:solidFill>
                <a:latin typeface="Average"/>
                <a:ea typeface="Average"/>
                <a:cs typeface="Average"/>
                <a:sym typeface="Average"/>
              </a:rPr>
              <a:t>Four frameworks were considered for choice of best feature subset.</a:t>
            </a:r>
            <a:endParaRPr sz="1800">
              <a:solidFill>
                <a:schemeClr val="accent3"/>
              </a:solidFill>
              <a:latin typeface="Average"/>
              <a:ea typeface="Average"/>
              <a:cs typeface="Average"/>
              <a:sym typeface="Average"/>
            </a:endParaRPr>
          </a:p>
          <a:p>
            <a:pPr indent="0" lvl="0" marL="0" rtl="0" algn="l">
              <a:lnSpc>
                <a:spcPct val="115000"/>
              </a:lnSpc>
              <a:spcBef>
                <a:spcPts val="0"/>
              </a:spcBef>
              <a:spcAft>
                <a:spcPts val="0"/>
              </a:spcAft>
              <a:buNone/>
            </a:pPr>
            <a:r>
              <a:t/>
            </a:r>
            <a:endParaRPr sz="1800">
              <a:solidFill>
                <a:schemeClr val="accent3"/>
              </a:solidFill>
              <a:latin typeface="Average"/>
              <a:ea typeface="Average"/>
              <a:cs typeface="Average"/>
              <a:sym typeface="Average"/>
            </a:endParaRPr>
          </a:p>
          <a:p>
            <a:pPr indent="-342900" lvl="0" marL="457200" rtl="0" algn="l">
              <a:lnSpc>
                <a:spcPct val="115000"/>
              </a:lnSpc>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Minimum Overfitting</a:t>
            </a:r>
            <a:endParaRPr sz="1800">
              <a:solidFill>
                <a:schemeClr val="accent3"/>
              </a:solidFill>
              <a:latin typeface="Average"/>
              <a:ea typeface="Average"/>
              <a:cs typeface="Average"/>
              <a:sym typeface="Average"/>
            </a:endParaRPr>
          </a:p>
          <a:p>
            <a:pPr indent="0" lvl="0" marL="0" rtl="0" algn="l">
              <a:lnSpc>
                <a:spcPct val="115000"/>
              </a:lnSpc>
              <a:spcBef>
                <a:spcPts val="0"/>
              </a:spcBef>
              <a:spcAft>
                <a:spcPts val="0"/>
              </a:spcAft>
              <a:buNone/>
            </a:pPr>
            <a:r>
              <a:t/>
            </a:r>
            <a:endParaRPr sz="1800">
              <a:solidFill>
                <a:schemeClr val="accent3"/>
              </a:solidFill>
              <a:latin typeface="Average"/>
              <a:ea typeface="Average"/>
              <a:cs typeface="Average"/>
              <a:sym typeface="Average"/>
            </a:endParaRPr>
          </a:p>
          <a:p>
            <a:pPr indent="-342900" lvl="0" marL="457200" rtl="0" algn="l">
              <a:lnSpc>
                <a:spcPct val="115000"/>
              </a:lnSpc>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Maximum Test Result</a:t>
            </a:r>
            <a:endParaRPr sz="1800">
              <a:solidFill>
                <a:schemeClr val="accent3"/>
              </a:solidFill>
              <a:latin typeface="Average"/>
              <a:ea typeface="Average"/>
              <a:cs typeface="Average"/>
              <a:sym typeface="Average"/>
            </a:endParaRPr>
          </a:p>
          <a:p>
            <a:pPr indent="0" lvl="0" marL="0" rtl="0" algn="l">
              <a:lnSpc>
                <a:spcPct val="115000"/>
              </a:lnSpc>
              <a:spcBef>
                <a:spcPts val="0"/>
              </a:spcBef>
              <a:spcAft>
                <a:spcPts val="0"/>
              </a:spcAft>
              <a:buNone/>
            </a:pPr>
            <a:r>
              <a:t/>
            </a:r>
            <a:endParaRPr sz="1800">
              <a:solidFill>
                <a:schemeClr val="accent3"/>
              </a:solidFill>
              <a:latin typeface="Average"/>
              <a:ea typeface="Average"/>
              <a:cs typeface="Average"/>
              <a:sym typeface="Average"/>
            </a:endParaRPr>
          </a:p>
          <a:p>
            <a:pPr indent="-342900" lvl="0" marL="457200" rtl="0" algn="l">
              <a:lnSpc>
                <a:spcPct val="115000"/>
              </a:lnSpc>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Strongest Peak Result</a:t>
            </a:r>
            <a:endParaRPr sz="1800">
              <a:solidFill>
                <a:schemeClr val="accent3"/>
              </a:solidFill>
              <a:latin typeface="Average"/>
              <a:ea typeface="Average"/>
              <a:cs typeface="Average"/>
              <a:sym typeface="Average"/>
            </a:endParaRPr>
          </a:p>
          <a:p>
            <a:pPr indent="0" lvl="0" marL="0" rtl="0" algn="l">
              <a:lnSpc>
                <a:spcPct val="115000"/>
              </a:lnSpc>
              <a:spcBef>
                <a:spcPts val="0"/>
              </a:spcBef>
              <a:spcAft>
                <a:spcPts val="0"/>
              </a:spcAft>
              <a:buNone/>
            </a:pPr>
            <a:r>
              <a:t/>
            </a:r>
            <a:endParaRPr sz="1800">
              <a:solidFill>
                <a:schemeClr val="accent3"/>
              </a:solidFill>
              <a:latin typeface="Average"/>
              <a:ea typeface="Average"/>
              <a:cs typeface="Average"/>
              <a:sym typeface="Average"/>
            </a:endParaRPr>
          </a:p>
          <a:p>
            <a:pPr indent="-342900" lvl="0" marL="457200" rtl="0" algn="l">
              <a:lnSpc>
                <a:spcPct val="115000"/>
              </a:lnSpc>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Earliest Peak Result</a:t>
            </a:r>
            <a:endParaRPr sz="1800">
              <a:solidFill>
                <a:schemeClr val="accent3"/>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Counts and Mean Features Kept by Technique</a:t>
            </a:r>
            <a:endParaRPr/>
          </a:p>
        </p:txBody>
      </p:sp>
      <p:sp>
        <p:nvSpPr>
          <p:cNvPr id="87" name="Google Shape;87;p17"/>
          <p:cNvSpPr txBox="1"/>
          <p:nvPr>
            <p:ph idx="1" type="body"/>
          </p:nvPr>
        </p:nvSpPr>
        <p:spPr>
          <a:xfrm>
            <a:off x="457200" y="3539850"/>
            <a:ext cx="8229600" cy="15225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rPr lang="en"/>
              <a:t>Across 50 dataset-model combinations, SHAP performed the best for 3 out of 4 frameworks. SHAP was often the best or second best </a:t>
            </a:r>
            <a:r>
              <a:rPr lang="en"/>
              <a:t>selection </a:t>
            </a:r>
            <a:r>
              <a:rPr lang="en"/>
              <a:t>technique for all dataset-model combinations. SHAP consistently keeps the least amount of features on average, indicating that SHAP rankings are superior in quality.</a:t>
            </a:r>
            <a:endParaRPr/>
          </a:p>
        </p:txBody>
      </p:sp>
      <p:pic>
        <p:nvPicPr>
          <p:cNvPr id="88" name="Google Shape;88;p17" title="performance_counts.png"/>
          <p:cNvPicPr preferRelativeResize="0"/>
          <p:nvPr/>
        </p:nvPicPr>
        <p:blipFill>
          <a:blip r:embed="rId3">
            <a:alphaModFix/>
          </a:blip>
          <a:stretch>
            <a:fillRect/>
          </a:stretch>
        </p:blipFill>
        <p:spPr>
          <a:xfrm>
            <a:off x="457199" y="1017716"/>
            <a:ext cx="8229601" cy="243596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MAX and SUM Threshold Counts Across Datasets and Models</a:t>
            </a:r>
            <a:endParaRPr/>
          </a:p>
        </p:txBody>
      </p:sp>
      <p:sp>
        <p:nvSpPr>
          <p:cNvPr id="94" name="Google Shape;94;p18"/>
          <p:cNvSpPr txBox="1"/>
          <p:nvPr>
            <p:ph idx="1" type="body"/>
          </p:nvPr>
        </p:nvSpPr>
        <p:spPr>
          <a:xfrm>
            <a:off x="5099150" y="1150750"/>
            <a:ext cx="3864900" cy="3877500"/>
          </a:xfrm>
          <a:prstGeom prst="rect">
            <a:avLst/>
          </a:prstGeom>
        </p:spPr>
        <p:txBody>
          <a:bodyPr anchorCtr="0" anchor="ctr"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MAX with </a:t>
            </a:r>
            <a:r>
              <a:rPr lang="en"/>
              <a:t>threshold</a:t>
            </a:r>
            <a:r>
              <a:rPr lang="en"/>
              <a:t> 0.01 showed the best test performance across 3 out of 4 frameworks.</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MAX with threshold 0.5 best minimized overfitting.</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SUM performs worse compared to MAX on most dataset-model combinations at all thresholds.</a:t>
            </a:r>
            <a:endParaRPr/>
          </a:p>
        </p:txBody>
      </p:sp>
      <p:pic>
        <p:nvPicPr>
          <p:cNvPr id="95" name="Google Shape;95;p18" title="shap_selection_counts.png"/>
          <p:cNvPicPr preferRelativeResize="0"/>
          <p:nvPr/>
        </p:nvPicPr>
        <p:blipFill>
          <a:blip r:embed="rId3">
            <a:alphaModFix/>
          </a:blip>
          <a:stretch>
            <a:fillRect/>
          </a:stretch>
        </p:blipFill>
        <p:spPr>
          <a:xfrm>
            <a:off x="93250" y="1150750"/>
            <a:ext cx="4800599" cy="387740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01" name="Google Shape;101;p19"/>
          <p:cNvSpPr txBox="1"/>
          <p:nvPr>
            <p:ph idx="1" type="body"/>
          </p:nvPr>
        </p:nvSpPr>
        <p:spPr>
          <a:xfrm>
            <a:off x="311700" y="1017725"/>
            <a:ext cx="8520600" cy="40002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
              <a:t>Our experiments show that SHAP is an effective feature selection technique. SHAP feature subsets exhibit equivalent or superior performance to feature subsets selected by common filter-based techniques, while resulting in greater feature reduction.</a:t>
            </a:r>
            <a:endParaRPr/>
          </a:p>
          <a:p>
            <a:pPr indent="0" lvl="0" marL="0" rtl="0" algn="l">
              <a:lnSpc>
                <a:spcPct val="115000"/>
              </a:lnSpc>
              <a:spcBef>
                <a:spcPts val="1000"/>
              </a:spcBef>
              <a:spcAft>
                <a:spcPts val="0"/>
              </a:spcAft>
              <a:buNone/>
            </a:pPr>
            <a:r>
              <a:rPr lang="en"/>
              <a:t>The MAX and SUM algorithms we created are effective in choosing the number of features in a simple, intuitive, and non-iterative manner. The MAX strategy was especially effective and naturally filters out weak features by directly enforcing feature relevance. MAX thresholds between 0.01 and 0.1 are ideal for most datasets.</a:t>
            </a:r>
            <a:endParaRPr/>
          </a:p>
          <a:p>
            <a:pPr indent="0" lvl="0" marL="0" rtl="0" algn="l">
              <a:lnSpc>
                <a:spcPct val="115000"/>
              </a:lnSpc>
              <a:spcBef>
                <a:spcPts val="1000"/>
              </a:spcBef>
              <a:spcAft>
                <a:spcPts val="1000"/>
              </a:spcAft>
              <a:buNone/>
            </a:pPr>
            <a:r>
              <a:rPr lang="en"/>
              <a:t>Future improvements include updating the SUM algorithm to filter out weak features to increase its effectiveness and the </a:t>
            </a:r>
            <a:r>
              <a:rPr lang="en"/>
              <a:t>creation</a:t>
            </a:r>
            <a:r>
              <a:rPr lang="en"/>
              <a:t> of automatic or semi-automatic modes for our MAX and SUM algorithms that require less human input.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